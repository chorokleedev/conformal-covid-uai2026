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[TITLE SLIDE - 30초]</a:t>
            </a:r>
          </a:p>
          <a:p/>
          <a:p>
            <a:r>
              <a:t>안녕하세요, 여러분. KAIST에서 온 이초록입니다.</a:t>
            </a:r>
          </a:p>
          <a:p/>
          <a:p>
            <a:r>
              <a:t>오늘 발표할 내용은 "Distribution Shift 상황에서 Conformal Prediction 실패를 진단하는 방법"입니다.</a:t>
            </a:r>
          </a:p>
          <a:p>
            <a:r>
              <a:t>COVID-19 팬데믹을 자연 실험으로 활용한 케이스 스터디입니다.</a:t>
            </a:r>
          </a:p>
          <a:p/>
          <a:p>
            <a:r>
              <a:t>이 연구는 UAI 2026에 accept되었습니다.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PROMISE OF CONFORMAL PREDICTION - 1분]</a:t>
            </a:r>
          </a:p>
          <a:p/>
          <a:p>
            <a:r>
              <a:t>먼저 Conformal Prediction이 왜 매력적인지 말씀드리겠습니다.</a:t>
            </a:r>
          </a:p>
          <a:p/>
          <a:p>
            <a:r>
              <a:t>Conformal Prediction은 세 가지 강력한 특성을 제공합니다.</a:t>
            </a:r>
          </a:p>
          <a:p/>
          <a:p>
            <a:r>
              <a:t>첫째, Distribution-free 보장입니다.</a:t>
            </a:r>
          </a:p>
          <a:p>
            <a:r>
              <a:t>데이터 분포에 대한 가정 없이도 coverage를 보장합니다.</a:t>
            </a:r>
          </a:p>
          <a:p/>
          <a:p>
            <a:r>
              <a:t>둘째, 어떤 base model과도 함께 작동합니다.</a:t>
            </a:r>
          </a:p>
          <a:p>
            <a:r>
              <a:t>Random Forest, Neural Network, XGBoost 등 무엇이든 가능합니다.</a:t>
            </a:r>
          </a:p>
          <a:p/>
          <a:p>
            <a:r>
              <a:t>셋째, Exact finite-sample validity를 제공합니다.</a:t>
            </a:r>
          </a:p>
          <a:p>
            <a:r>
              <a:t>점근적 보장이 아니라 유한 샘플에서도 정확한 보장을 제공합니다.</a:t>
            </a:r>
          </a:p>
          <a:p/>
          <a:p>
            <a:r>
              <a:t>저희는 90% coverage를 목표로 합니다.</a:t>
            </a:r>
          </a:p>
          <a:p>
            <a:r>
              <a:t>즉, true label이 prediction set에 최소 90% 확률로 포함됩니다.</a:t>
            </a:r>
          </a:p>
          <a:p/>
          <a:p>
            <a:r>
              <a:t>하지만... 여기에 함정이 있습니다.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HIDDEN ASSUMPTION - 1분]</a:t>
            </a:r>
          </a:p>
          <a:p/>
          <a:p>
            <a:r>
              <a:t>그 함정은 바로 Exchangeability 가정입니다.</a:t>
            </a:r>
          </a:p>
          <a:p/>
          <a:p>
            <a:r>
              <a:t>Conformal Prediction이 작동하려면 calibration 데이터와 test 데이터가</a:t>
            </a:r>
          </a:p>
          <a:p>
            <a:r>
              <a:t>교환 가능해야 합니다. 쉽게 말해, 같은 분포에서 나와야 합니다.</a:t>
            </a:r>
          </a:p>
          <a:p/>
          <a:p>
            <a:r>
              <a:t>그림을 보시면, Training과 Test 사이에 물음표가 있습니다.</a:t>
            </a:r>
          </a:p>
          <a:p>
            <a:r>
              <a:t>실제로 이 둘이 같은 분포일까요?</a:t>
            </a:r>
          </a:p>
          <a:p/>
          <a:p>
            <a:r>
              <a:t>현실 세계의 배포 환경에서는 Distribution Shift가 불가피합니다.</a:t>
            </a:r>
          </a:p>
          <a:p/>
          <a:p>
            <a:r>
              <a:t>COVID-19 같은 temporal shift가 있을 수 있고,</a:t>
            </a:r>
          </a:p>
          <a:p>
            <a:r>
              <a:t>새로운 지역으로 확장할 때 geographic shift가 있고,</a:t>
            </a:r>
          </a:p>
          <a:p>
            <a:r>
              <a:t>새로운 사용자층이 유입되면 demographic shift가 생깁니다.</a:t>
            </a:r>
          </a:p>
          <a:p/>
          <a:p>
            <a:r>
              <a:t>그렇다면 이 가정이 깨질 때 무슨 일이 일어날까요?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 RESEARCH GAP - 1분]</a:t>
            </a:r>
          </a:p>
          <a:p/>
          <a:p>
            <a:r>
              <a:t>기존에도 Distribution Shift를 탐지하는 방법들이 있습니다.</a:t>
            </a:r>
          </a:p>
          <a:p/>
          <a:p>
            <a:r>
              <a:t>MMD, Maximum Mean Discrepancy.</a:t>
            </a:r>
          </a:p>
          <a:p>
            <a:r>
              <a:t>C2ST, Classifier Two-Sample Test.</a:t>
            </a:r>
          </a:p>
          <a:p>
            <a:r>
              <a:t>PSI, Population Stability Index.</a:t>
            </a:r>
          </a:p>
          <a:p/>
          <a:p>
            <a:r>
              <a:t>이들은 shift가 '발생했는지'는 탐지할 수 있습니다.</a:t>
            </a:r>
          </a:p>
          <a:p/>
          <a:p>
            <a:r>
              <a:t>하지만 치명적인 한계가 있습니다.</a:t>
            </a:r>
          </a:p>
          <a:p/>
          <a:p>
            <a:r>
              <a:t>이 지표들은 모든 task에서 비슷하게 shift를 탐지합니다.</a:t>
            </a:r>
          </a:p>
          <a:p>
            <a:r>
              <a:t>Coverage failure와의 상관관계는 rho가 0.19 이하로 매우 약합니다.</a:t>
            </a:r>
          </a:p>
          <a:p/>
          <a:p>
            <a:r>
              <a:t>즉, Robust한 결과와 Catastrophic failure를 구분하지 못합니다.</a:t>
            </a:r>
          </a:p>
          <a:p/>
          <a:p>
            <a:r>
              <a:t>그래서 저희의 연구 질문은 이것입니다:</a:t>
            </a:r>
          </a:p>
          <a:p/>
          <a:p>
            <a:r>
              <a:t>"Test 데이터를 관찰하기 전에, 어떤 모델이 실패할지 예측할 수 있을까요?"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[CONFORMAL PREDICTION: A BRIEF PRIMER - 1.5분]</a:t>
            </a:r>
          </a:p>
          <a:p/>
          <a:p>
            <a:r>
              <a:t>Conformal Prediction에 익숙하지 않은 분들을 위해 간단히 설명드리겠습니다.</a:t>
            </a:r>
          </a:p>
          <a:p/>
          <a:p>
            <a:r>
              <a:t>K개 클래스가 있는 분류 문제를 생각해봅시다.</a:t>
            </a:r>
          </a:p>
          <a:p>
            <a:r>
              <a:t>Base model이 각 클래스에 대한 확률 pi를 출력합니다.</a:t>
            </a:r>
          </a:p>
          <a:p/>
          <a:p>
            <a:r>
              <a:t>저희는 APS, Adaptive Prediction Sets를 사용합니다.</a:t>
            </a:r>
          </a:p>
          <a:p/>
          <a:p>
            <a:r>
              <a:t>1단계: Nonconformity score를 정의합니다.</a:t>
            </a:r>
          </a:p>
          <a:p>
            <a:r>
              <a:t>s(x,y)는 true class보다 높은 확률을 가진 클래스들의 확률 합입니다.</a:t>
            </a:r>
          </a:p>
          <a:p>
            <a:r>
              <a:t>직관적으로, 모델이 true class를 얼마나 '놀랍게' 여기는지를 측정합니다.</a:t>
            </a:r>
          </a:p>
          <a:p/>
          <a:p>
            <a:r>
              <a:t>2단계: Calibration set에서 threshold를 계산합니다.</a:t>
            </a:r>
          </a:p>
          <a:p>
            <a:r>
              <a:t>q-hat은 calibration score들의 (1-alpha) quantile입니다.</a:t>
            </a:r>
          </a:p>
          <a:p/>
          <a:p>
            <a:r>
              <a:t>3단계: Prediction set을 형성합니다.</a:t>
            </a:r>
          </a:p>
          <a:p>
            <a:r>
              <a:t>Score가 threshold 이하인 모든 클래스를 포함합니다.</a:t>
            </a:r>
          </a:p>
          <a:p/>
          <a:p>
            <a:r>
              <a:t>4단계: Coverage guarantee.</a:t>
            </a:r>
          </a:p>
          <a:p>
            <a:r>
              <a:t>Exchangeability 하에서, true label이 prediction set에 포함될 확률이</a:t>
            </a:r>
          </a:p>
          <a:p>
            <a:r>
              <a:t>최소 1-alpha, 즉 90%입니다.</a:t>
            </a:r>
          </a:p>
          <a:p/>
          <a:p>
            <a:r>
              <a:t>저희 실험에서는 alpha=0.1, 즉 90% target coverage를 사용합니다.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[CONFORMAL PREDICTION PIPELINE - 30초]</a:t>
            </a:r>
          </a:p>
          <a:p/>
          <a:p>
            <a:r>
              <a:t>이 그림이 Conformal Prediction의 전체 파이프라인을 보여줍니다.</a:t>
            </a:r>
          </a:p>
          <a:p/>
          <a:p>
            <a:r>
              <a:t>왼쪽부터 보시면:</a:t>
            </a:r>
          </a:p>
          <a:p>
            <a:r>
              <a:t>Training Data로 Base Model을 학습합니다.</a:t>
            </a:r>
          </a:p>
          <a:p>
            <a:r>
              <a:t>Calibration Set으로 Nonconformity Score를 계산합니다.</a:t>
            </a:r>
          </a:p>
          <a:p>
            <a:r>
              <a:t>Score 분포에서 quantile threshold를 구합니다.</a:t>
            </a:r>
          </a:p>
          <a:p>
            <a:r>
              <a:t>새로운 입력에 대해 Prediction Set을 생성합니다.</a:t>
            </a:r>
          </a:p>
          <a:p/>
          <a:p>
            <a:r>
              <a:t>아래 히스토그램이 중요합니다.</a:t>
            </a:r>
          </a:p>
          <a:p>
            <a:r>
              <a:t>빨간 선이 quantile threshold입니다.</a:t>
            </a:r>
          </a:p>
          <a:p>
            <a:r>
              <a:t>이 threshold가 90% coverage를 보장합니다.</a:t>
            </a:r>
          </a:p>
          <a:p/>
          <a:p>
            <a:r>
              <a:t>하지만 Distribution Shift가 발생하면?</a:t>
            </a:r>
          </a:p>
          <a:p>
            <a:r>
              <a:t>Calibration 때 계산한 threshold가 더 이상 유효하지 않습니다.</a:t>
            </a:r>
          </a:p>
          <a:p>
            <a:r>
              <a:t>Coverage가 깨집니다.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[WHAT HAPPENS UNDER DISTRIBUTION SHIFT? - 1분]</a:t>
            </a:r>
          </a:p>
          <a:p/>
          <a:p>
            <a:r>
              <a:t>실제로 무슨 일이 일어나는지 보여드리겠습니다.</a:t>
            </a:r>
          </a:p>
          <a:p/>
          <a:p>
            <a:r>
              <a:t>왼쪽: Shift가 없는 경우.</a:t>
            </a:r>
          </a:p>
          <a:p>
            <a:r>
              <a:t>Coverage가 target인 90% 근처를 유지합니다. 초록색 막대입니다.</a:t>
            </a:r>
          </a:p>
          <a:p/>
          <a:p>
            <a:r>
              <a:t>가운데: 약한 Shift.</a:t>
            </a:r>
          </a:p>
          <a:p>
            <a:r>
              <a:t>약간의 undercoverage가 발생합니다. 85% 정도.</a:t>
            </a:r>
          </a:p>
          <a:p>
            <a:r>
              <a:t>주황색 막대입니다. 아직 사용 가능한 수준입니다.</a:t>
            </a:r>
          </a:p>
          <a:p/>
          <a:p>
            <a:r>
              <a:t>오른쪽: 심한 Shift.</a:t>
            </a:r>
          </a:p>
          <a:p>
            <a:r>
              <a:t>Catastrophic failure입니다. Coverage가 49.8%로 추락합니다.</a:t>
            </a:r>
          </a:p>
          <a:p>
            <a:r>
              <a:t>빨간 막대입니다. 90%를 목표로 했는데 절반도 안 됩니다.</a:t>
            </a:r>
          </a:p>
          <a:p/>
          <a:p>
            <a:r>
              <a:t>여기서 중요한 관찰이 있습니다.</a:t>
            </a:r>
          </a:p>
          <a:p/>
          <a:p>
            <a:r>
              <a:t>Shift의 심각도만으로는 coverage failure를 예측할 수 없습니다.</a:t>
            </a:r>
          </a:p>
          <a:p>
            <a:r>
              <a:t>중요한 것은 '어떤' feature가 shift하는지,</a:t>
            </a:r>
          </a:p>
          <a:p>
            <a:r>
              <a:t>그리고 모델이 그 feature에 얼마나 '의존'하는지입니다.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[OUR KEY INSIGHT - 1분]</a:t>
            </a:r>
          </a:p>
          <a:p/>
          <a:p>
            <a:r>
              <a:t>이것이 저희의 핵심 통찰입니다.</a:t>
            </a:r>
          </a:p>
          <a:p/>
          <a:p>
            <a:r>
              <a:t>화면의 문장을 읽어드리겠습니다:</a:t>
            </a:r>
          </a:p>
          <a:p/>
          <a:p>
            <a:r>
              <a:t>"Conformal Prediction의 취약성은</a:t>
            </a:r>
          </a:p>
          <a:p>
            <a:r>
              <a:t>모델이 shifting feature에 얼마나 '집중적으로' 의존하는지에 의해 결정된다."</a:t>
            </a:r>
          </a:p>
          <a:p/>
          <a:p>
            <a:r>
              <a:t>왼쪽 막대 그래프를 보세요. Low Concentration입니다.</a:t>
            </a:r>
          </a:p>
          <a:p>
            <a:r>
              <a:t>Feature importance가 여러 feature에 고르게 분산되어 있습니다.</a:t>
            </a:r>
          </a:p>
          <a:p>
            <a:r>
              <a:t>이런 모델은 Robust합니다.</a:t>
            </a:r>
          </a:p>
          <a:p>
            <a:r>
              <a:t>한 feature가 shift해도 다른 feature들이 버텨줍니다.</a:t>
            </a:r>
          </a:p>
          <a:p/>
          <a:p>
            <a:r>
              <a:t>오른쪽을 보세요. High Concentration입니다.</a:t>
            </a:r>
          </a:p>
          <a:p>
            <a:r>
              <a:t>하나의 feature가 압도적으로 중요합니다.</a:t>
            </a:r>
          </a:p>
          <a:p>
            <a:r>
              <a:t>이런 모델은 Vulnerable합니다.</a:t>
            </a:r>
          </a:p>
          <a:p>
            <a:r>
              <a:t>그 feature가 shift하면 모델 전체가 무너집니다.</a:t>
            </a:r>
          </a:p>
          <a:p/>
          <a:p>
            <a:r>
              <a:t>저희는 이것을 SHAP Concentration으로 측정합니다.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[SHAP CONCENTRATION: THE METRIC - 1분]</a:t>
            </a:r>
          </a:p>
          <a:p/>
          <a:p>
            <a:r>
              <a:t>SHAP Concentration의 정의를 설명드리겠습니다.</a:t>
            </a:r>
          </a:p>
          <a:p/>
          <a:p>
            <a:r>
              <a:t>매우 간단합니다.</a:t>
            </a:r>
          </a:p>
          <a:p/>
          <a:p>
            <a:r>
              <a:t>1단계: Validation 데이터에서 각 feature의 mean absolute SHAP value를 계산합니다.</a:t>
            </a:r>
          </a:p>
          <a:p>
            <a:r>
              <a:t>phi_j가 feature j의 평균 중요도입니다.</a:t>
            </a:r>
          </a:p>
          <a:p/>
          <a:p>
            <a:r>
              <a:t>2단계: Concentration C를 계산합니다.</a:t>
            </a:r>
          </a:p>
          <a:p/>
          <a:p>
            <a:r>
              <a:t>박스 안의 수식을 보세요:</a:t>
            </a:r>
          </a:p>
          <a:p>
            <a:r>
              <a:t>C = phi_1 / sum of all phi_j</a:t>
            </a:r>
          </a:p>
          <a:p/>
          <a:p>
            <a:r>
              <a:t>분자는 가장 중요한 feature의 importance입니다.</a:t>
            </a:r>
          </a:p>
          <a:p>
            <a:r>
              <a:t>분모는 전체 feature importance의 합입니다.</a:t>
            </a:r>
          </a:p>
          <a:p/>
          <a:p>
            <a:r>
              <a:t>즉, "top-1 feature가 전체의 몇 퍼센트를 차지하는가"입니다.</a:t>
            </a:r>
          </a:p>
          <a:p/>
          <a:p>
            <a:r>
              <a:t>해석은 간단합니다:</a:t>
            </a:r>
          </a:p>
          <a:p>
            <a:r>
              <a:t>C가 40% 미만이면: 모델이 shift에 Robust할 가능성이 높습니다.</a:t>
            </a:r>
          </a:p>
          <a:p>
            <a:r>
              <a:t>C가 40% 이상이면: 모델이 Vulnerable합니다. 배포 전 조치가 필요합니다.</a:t>
            </a:r>
          </a:p>
          <a:p/>
          <a:p>
            <a:r>
              <a:t>이 metric의 장점은:</a:t>
            </a:r>
          </a:p>
          <a:p>
            <a:r>
              <a:t>단순하고, 해석 가능하고, 배포 전에 계산할 수 있습니다.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[EXPERIMENTAL SETUP: SALT BENCHMARK - 1분]</a:t>
            </a:r>
          </a:p>
          <a:p/>
          <a:p>
            <a:r>
              <a:t>실험 설정을 말씀드리겠습니다.</a:t>
            </a:r>
          </a:p>
          <a:p/>
          <a:p>
            <a:r>
              <a:t>저희는 Stanford의 SALT 벤치마크를 사용했습니다.</a:t>
            </a:r>
          </a:p>
          <a:p>
            <a:r>
              <a:t>Supply chain ALlocaTion의 약자입니다.</a:t>
            </a:r>
          </a:p>
          <a:p/>
          <a:p>
            <a:r>
              <a:t>8개의 e-commerce 분류 task가 있습니다.</a:t>
            </a:r>
          </a:p>
          <a:p/>
          <a:p>
            <a:r>
              <a:t>핵심은 COVID-19 temporal split입니다.</a:t>
            </a:r>
          </a:p>
          <a:p>
            <a:r>
              <a:t>Calibration: COVID 이전 데이터</a:t>
            </a:r>
          </a:p>
          <a:p>
            <a:r>
              <a:t>Test: COVID 기간 데이터</a:t>
            </a:r>
          </a:p>
          <a:p/>
          <a:p>
            <a:r>
              <a:t>이것이 왜 좋은 실험 설계인가?</a:t>
            </a:r>
          </a:p>
          <a:p/>
          <a:p>
            <a:r>
              <a:t>모든 8개 task가 동일한 외부 충격을 경험합니다.</a:t>
            </a:r>
          </a:p>
          <a:p>
            <a:r>
              <a:t>하지만 각 task의 SHAP Concentration profile은 다릅니다.</a:t>
            </a:r>
          </a:p>
          <a:p/>
          <a:p>
            <a:r>
              <a:t>따라서 concentration과 coverage failure의 관계를</a:t>
            </a:r>
          </a:p>
          <a:p>
            <a:r>
              <a:t>깔끔하게 분리해서 연구할 수 있습니다.</a:t>
            </a:r>
          </a:p>
          <a:p/>
          <a:p>
            <a:r>
              <a:t>오른쪽 그림이 COVID-19로 인한 distribution shift를 보여줍니다.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[METHODOLOGY DETAILS - 45초]</a:t>
            </a:r>
          </a:p>
          <a:p/>
          <a:p>
            <a:r>
              <a:t>방법론 세부사항입니다.</a:t>
            </a:r>
          </a:p>
          <a:p/>
          <a:p>
            <a:r>
              <a:t>Models:</a:t>
            </a:r>
          </a:p>
          <a:p>
            <a:r>
              <a:t>주로 LightGBM을 사용했습니다.</a:t>
            </a:r>
          </a:p>
          <a:p>
            <a:r>
              <a:t>추가로 CatBoost, XGBoost, Random Forest도 테스트했습니다.</a:t>
            </a:r>
          </a:p>
          <a:p/>
          <a:p>
            <a:r>
              <a:t>Conformal Method:</a:t>
            </a:r>
          </a:p>
          <a:p>
            <a:r>
              <a:t>APS, Adaptive Prediction Sets.</a:t>
            </a:r>
          </a:p>
          <a:p>
            <a:r>
              <a:t>Target coverage 90%, 즉 alpha = 0.1.</a:t>
            </a:r>
          </a:p>
          <a:p/>
          <a:p>
            <a:r>
              <a:t>Statistical Robustness:</a:t>
            </a:r>
          </a:p>
          <a:p>
            <a:r>
              <a:t>50개의 random seed로 실험을 반복했습니다.</a:t>
            </a:r>
          </a:p>
          <a:p>
            <a:r>
              <a:t>Spearman correlation과 p-value를 보고합니다.</a:t>
            </a:r>
          </a:p>
          <a:p/>
          <a:p>
            <a:r>
              <a:t>External Validation:</a:t>
            </a:r>
          </a:p>
          <a:p>
            <a:r>
              <a:t>SALT 외에 8개 추가 데이터셋에서 검증했습니다.</a:t>
            </a:r>
          </a:p>
          <a:p>
            <a:r>
              <a:t>총 9개 domain, 16개 task입니다.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[MAIN RESULT: STRONG CORRELATION - 1분]</a:t>
            </a:r>
          </a:p>
          <a:p/>
          <a:p>
            <a:r>
              <a:t>이제 메인 결과입니다. 가장 중요한 슬라이드입니다.</a:t>
            </a:r>
          </a:p>
          <a:p/>
          <a:p>
            <a:r>
              <a:t>그래프를 보세요.</a:t>
            </a:r>
          </a:p>
          <a:p>
            <a:r>
              <a:t>X축이 SHAP Concentration,</a:t>
            </a:r>
          </a:p>
          <a:p>
            <a:r>
              <a:t>Y축이 Coverage Deviation입니다.</a:t>
            </a:r>
          </a:p>
          <a:p/>
          <a:p>
            <a:r>
              <a:t>16개 점이 있습니다.</a:t>
            </a:r>
          </a:p>
          <a:p>
            <a:r>
              <a:t>파란 원이 SALT COVID task 8개,</a:t>
            </a:r>
          </a:p>
          <a:p>
            <a:r>
              <a:t>주황 삼각형이 external validation 8개입니다.</a:t>
            </a:r>
          </a:p>
          <a:p/>
          <a:p>
            <a:r>
              <a:t>회귀선과 confidence band가 보이시죠?</a:t>
            </a:r>
          </a:p>
          <a:p/>
          <a:p>
            <a:r>
              <a:t>결과:</a:t>
            </a:r>
          </a:p>
          <a:p>
            <a:r>
              <a:t>Spearman rho = 0.853</a:t>
            </a:r>
          </a:p>
          <a:p>
            <a:r>
              <a:t>p-value &lt; 0.001</a:t>
            </a:r>
          </a:p>
          <a:p>
            <a:r>
              <a:t>n = 16 tasks across 9 domains</a:t>
            </a:r>
          </a:p>
          <a:p/>
          <a:p>
            <a:r>
              <a:t>이것은 매우 강한 상관관계입니다.</a:t>
            </a:r>
          </a:p>
          <a:p>
            <a:r>
              <a:t>SHAP Concentration이 높을수록 Coverage failure가 심합니다.</a:t>
            </a:r>
          </a:p>
          <a:p/>
          <a:p>
            <a:r>
              <a:t>비교해보면:</a:t>
            </a:r>
          </a:p>
          <a:p>
            <a:r>
              <a:t>기존 shift detector들의 rho는 0.19 이하입니다.</a:t>
            </a:r>
          </a:p>
          <a:p>
            <a:r>
              <a:t>저희 metric은 0.853입니다.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[WITHIN SALT COVID TASKS - 45초]</a:t>
            </a:r>
          </a:p>
          <a:p/>
          <a:p>
            <a:r>
              <a:t>SALT COVID task 내에서의 결과를 더 자세히 보겠습니다.</a:t>
            </a:r>
          </a:p>
          <a:p/>
          <a:p>
            <a:r>
              <a:t>왼쪽 scatter plot:</a:t>
            </a:r>
          </a:p>
          <a:p>
            <a:r>
              <a:t>8개 SALT task만 표시했습니다.</a:t>
            </a:r>
          </a:p>
          <a:p>
            <a:r>
              <a:t>rho = 0.833, p = 0.010</a:t>
            </a:r>
          </a:p>
          <a:p/>
          <a:p>
            <a:r>
              <a:t>오른쪽 테이블:</a:t>
            </a:r>
          </a:p>
          <a:p>
            <a:r>
              <a:t>Task별로 Concentration과 Coverage를 보여줍니다.</a:t>
            </a:r>
          </a:p>
          <a:p/>
          <a:p>
            <a:r>
              <a:t>패턴이 명확합니다:</a:t>
            </a:r>
          </a:p>
          <a:p>
            <a:r>
              <a:t>Concentration이 낮은 task (0.21, 0.28)는 coverage가 88%, 85%로 양호합니다.</a:t>
            </a:r>
          </a:p>
          <a:p>
            <a:r>
              <a:t>Concentration이 높은 task (0.67)는 coverage가 65%로 심하게 떨어집니다.</a:t>
            </a:r>
          </a:p>
          <a:p/>
          <a:p>
            <a:r>
              <a:t>Bootstrap 95% CI는 [0.30, 1.00]입니다.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[COMPARISON: SHAP VS STANDARD DETECTORS - 1분]</a:t>
            </a:r>
          </a:p>
          <a:p/>
          <a:p>
            <a:r>
              <a:t>기존 shift detector들과 비교해보겠습니다.</a:t>
            </a:r>
          </a:p>
          <a:p/>
          <a:p>
            <a:r>
              <a:t>표를 보세요:</a:t>
            </a:r>
          </a:p>
          <a:p/>
          <a:p>
            <a:r>
              <a:t>SHAP Concentration: rho = 0.853, Strong correlation.</a:t>
            </a:r>
          </a:p>
          <a:p>
            <a:r>
              <a:t>MMD: rho = 0.19, Weak.</a:t>
            </a:r>
          </a:p>
          <a:p>
            <a:r>
              <a:t>C2ST: rho = 0.15, Weak.</a:t>
            </a:r>
          </a:p>
          <a:p>
            <a:r>
              <a:t>PSI: rho = 0.12, Negligible.</a:t>
            </a:r>
          </a:p>
          <a:p/>
          <a:p>
            <a:r>
              <a:t>왜 기존 방법들이 실패할까요?</a:t>
            </a:r>
          </a:p>
          <a:p/>
          <a:p>
            <a:r>
              <a:t>기존 방법들은 marginal distribution shift를 측정합니다.</a:t>
            </a:r>
          </a:p>
          <a:p>
            <a:r>
              <a:t>"전체적으로 데이터가 얼마나 달라졌는가"를 봅니다.</a:t>
            </a:r>
          </a:p>
          <a:p/>
          <a:p>
            <a:r>
              <a:t>하지만 coverage failure는 model-relevant feature의 shift에 달려있습니다.</a:t>
            </a:r>
          </a:p>
          <a:p>
            <a:r>
              <a:t>모델이 의존하는 feature가 shift하면 실패하고,</a:t>
            </a:r>
          </a:p>
          <a:p>
            <a:r>
              <a:t>모델이 무시하는 feature가 shift하면 괜찮습니다.</a:t>
            </a:r>
          </a:p>
          <a:p/>
          <a:p>
            <a:r>
              <a:t>모든 task에서 MMD와 C2ST는 비슷한 값을 보여줍니다.</a:t>
            </a:r>
          </a:p>
          <a:p>
            <a:r>
              <a:t>하지만 coverage outcome은 극단적으로 다릅니다.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[EXTERNAL VALIDATION: COVERTYPE - 1분]</a:t>
            </a:r>
          </a:p>
          <a:p/>
          <a:p>
            <a:r>
              <a:t>External validation의 대표 사례로 Covertype 데이터셋을 보겠습니다.</a:t>
            </a:r>
          </a:p>
          <a:p/>
          <a:p>
            <a:r>
              <a:t>Covertype은 forest cover type을 예측하는 task입니다.</a:t>
            </a:r>
          </a:p>
          <a:p>
            <a:r>
              <a:t>7개 클래스, 54개 feature.</a:t>
            </a:r>
          </a:p>
          <a:p/>
          <a:p>
            <a:r>
              <a:t>Geographic split을 사용했습니다:</a:t>
            </a:r>
          </a:p>
          <a:p>
            <a:r>
              <a:t>Wilderness Area 1-2로 학습,</a:t>
            </a:r>
          </a:p>
          <a:p>
            <a:r>
              <a:t>Area 4로 테스트.</a:t>
            </a:r>
          </a:p>
          <a:p/>
          <a:p>
            <a:r>
              <a:t>결과를 보세요:</a:t>
            </a:r>
          </a:p>
          <a:p/>
          <a:p>
            <a:r>
              <a:t>SHAP Concentration: 49.8%</a:t>
            </a:r>
          </a:p>
          <a:p>
            <a:r>
              <a:t>저희 40% threshold를 초과합니다. Vulnerable로 예측됩니다.</a:t>
            </a:r>
          </a:p>
          <a:p/>
          <a:p>
            <a:r>
              <a:t>실제 결과:</a:t>
            </a:r>
          </a:p>
          <a:p>
            <a:r>
              <a:t>Target Coverage: 90%</a:t>
            </a:r>
          </a:p>
          <a:p>
            <a:r>
              <a:t>Actual Coverage: 8.2%</a:t>
            </a:r>
          </a:p>
          <a:p>
            <a:r>
              <a:t>Coverage Drop: 81.8 percentage points!</a:t>
            </a:r>
          </a:p>
          <a:p/>
          <a:p>
            <a:r>
              <a:t>Catastrophic failure입니다.</a:t>
            </a:r>
          </a:p>
          <a:p/>
          <a:p>
            <a:r>
              <a:t>그리고 이것은 10개 seed 모두에서 동일하게 발생했습니다.</a:t>
            </a:r>
          </a:p>
          <a:p>
            <a:r>
              <a:t>Deterministic failure입니다.</a:t>
            </a:r>
          </a:p>
          <a:p/>
          <a:p>
            <a:r>
              <a:t>저희 diagnostic이 이 실패를 정확히 예측했습니다.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[MODEL SENSITIVITY ANALYSIS - 45초]</a:t>
            </a:r>
          </a:p>
          <a:p/>
          <a:p>
            <a:r>
              <a:t>이 diagnostic이 모든 모델에서 작동할까요?</a:t>
            </a:r>
          </a:p>
          <a:p/>
          <a:p>
            <a:r>
              <a:t>테이블을 보세요:</a:t>
            </a:r>
          </a:p>
          <a:p/>
          <a:p>
            <a:r>
              <a:t>LightGBM: rho = 0.833, 가장 강한 신호.</a:t>
            </a:r>
          </a:p>
          <a:p>
            <a:r>
              <a:t>CatBoost: rho = 0.667, 좋음.</a:t>
            </a:r>
          </a:p>
          <a:p>
            <a:r>
              <a:t>XGBoost: rho = 0.548, 보통.</a:t>
            </a:r>
          </a:p>
          <a:p>
            <a:r>
              <a:t>Random Forest: rho = 0.300, 약함.</a:t>
            </a:r>
          </a:p>
          <a:p/>
          <a:p>
            <a:r>
              <a:t>왜 이런 차이가 있을까요?</a:t>
            </a:r>
          </a:p>
          <a:p/>
          <a:p>
            <a:r>
              <a:t>Gradient Boosting 계열에서 가장 잘 작동합니다.</a:t>
            </a:r>
          </a:p>
          <a:p>
            <a:r>
              <a:t>Sequential training이 single-feature dependence를 강화하기 때문입니다.</a:t>
            </a:r>
          </a:p>
          <a:p/>
          <a:p>
            <a:r>
              <a:t>Random Forest는 bagging이 feature importance를 분산시킵니다.</a:t>
            </a:r>
          </a:p>
          <a:p>
            <a:r>
              <a:t>각 tree가 다른 feature subset을 보기 때문에</a:t>
            </a:r>
          </a:p>
          <a:p>
            <a:r>
              <a:t>global concentration 신호가 희석됩니다.</a:t>
            </a:r>
          </a:p>
          <a:p/>
          <a:p>
            <a:r>
              <a:t>따라서 이 diagnostic은 gradient boosting model에 가장 적합합니다.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[THEORETICAL FOUNDATION - 1분]</a:t>
            </a:r>
          </a:p>
          <a:p/>
          <a:p>
            <a:r>
              <a:t>이론적 근거도 제공합니다.</a:t>
            </a:r>
          </a:p>
          <a:p/>
          <a:p>
            <a:r>
              <a:t>Theorem 박스를 보세요:</a:t>
            </a:r>
          </a:p>
          <a:p/>
          <a:p>
            <a:r>
              <a:t>H가 SHAP Concentration이고,</a:t>
            </a:r>
          </a:p>
          <a:p>
            <a:r>
              <a:t>delta가 feature shift magnitude일 때,</a:t>
            </a:r>
          </a:p>
          <a:p/>
          <a:p>
            <a:r>
              <a:t>Expected APS score deviation의 upper bound는</a:t>
            </a:r>
          </a:p>
          <a:p>
            <a:r>
              <a:t>g(H) * ||delta||_2 에 비례합니다.</a:t>
            </a:r>
          </a:p>
          <a:p/>
          <a:p>
            <a:r>
              <a:t>여기서 핵심은:</a:t>
            </a:r>
          </a:p>
          <a:p>
            <a:r>
              <a:t>g(H)가 H에 대해 monotonically increasing합니다.</a:t>
            </a:r>
          </a:p>
          <a:p/>
          <a:p>
            <a:r>
              <a:t>의미:</a:t>
            </a:r>
          </a:p>
          <a:p>
            <a:r>
              <a:t>Concentration이 높을수록 → score perturbation bound가 커집니다.</a:t>
            </a:r>
          </a:p>
          <a:p>
            <a:r>
              <a:t>Score perturbation이 크면 → coverage가 깨집니다.</a:t>
            </a:r>
          </a:p>
          <a:p/>
          <a:p>
            <a:r>
              <a:t>Concentration은 일종의 "fragility amplifier" 역할을 합니다.</a:t>
            </a:r>
          </a:p>
          <a:p>
            <a:r>
              <a:t>같은 크기의 shift라도 concentrated model에서 더 큰 피해를 줍니다.</a:t>
            </a:r>
          </a:p>
          <a:p/>
          <a:p>
            <a:r>
              <a:t>자세한 증명은 논문 Appendix A에 있습니다.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[INTUITION BEHIND THE THEOREM - 1분]</a:t>
            </a:r>
          </a:p>
          <a:p/>
          <a:p>
            <a:r>
              <a:t>직관적으로 설명드리겠습니다.</a:t>
            </a:r>
          </a:p>
          <a:p/>
          <a:p>
            <a:r>
              <a:t>그림의 왼쪽: Low Concentration.</a:t>
            </a:r>
          </a:p>
          <a:p>
            <a:r>
              <a:t>SHAP weight가 5개 feature에 균등하게 분포합니다.</a:t>
            </a:r>
          </a:p>
          <a:p>
            <a:r>
              <a:t>아래 빨간 막대가 shift입니다.</a:t>
            </a:r>
          </a:p>
          <a:p>
            <a:r>
              <a:t>일부 feature에 shift가 발생해도,</a:t>
            </a:r>
          </a:p>
          <a:p>
            <a:r>
              <a:t>weighted impact가 평균화됩니다.</a:t>
            </a:r>
          </a:p>
          <a:p>
            <a:r>
              <a:t>결과: Small perturbation.</a:t>
            </a:r>
          </a:p>
          <a:p/>
          <a:p>
            <a:r>
              <a:t>그림의 오른쪽: High Concentration.</a:t>
            </a:r>
          </a:p>
          <a:p>
            <a:r>
              <a:t>하나의 feature가 압도적인 SHAP weight를 가집니다.</a:t>
            </a:r>
          </a:p>
          <a:p>
            <a:r>
              <a:t>그 feature에 shift가 발생하면?</a:t>
            </a:r>
          </a:p>
          <a:p>
            <a:r>
              <a:t>Weighted impact가 엄청나게 큽니다.</a:t>
            </a:r>
          </a:p>
          <a:p>
            <a:r>
              <a:t>결과: Large perturbation.</a:t>
            </a:r>
          </a:p>
          <a:p/>
          <a:p>
            <a:r>
              <a:t>같은 양의 shift라도,</a:t>
            </a:r>
          </a:p>
          <a:p>
            <a:r>
              <a:t>concentrated model에서 damage가 증폭됩니다.</a:t>
            </a:r>
          </a:p>
          <a:p/>
          <a:p>
            <a:r>
              <a:t>이것이 concentration이 "fragility amplifier"인 이유입니다.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[OPERATIONAL FRAMEWORK: 3-STEP PROTOCOL - 1분]</a:t>
            </a:r>
          </a:p>
          <a:p/>
          <a:p>
            <a:r>
              <a:t>실무에서 어떻게 적용할까요?</a:t>
            </a:r>
          </a:p>
          <a:p/>
          <a:p>
            <a:r>
              <a:t>3단계 프로토콜을 제안합니다.</a:t>
            </a:r>
          </a:p>
          <a:p/>
          <a:p>
            <a:r>
              <a:t>Step 1: Validation 데이터에서 Concentration C를 계산합니다.</a:t>
            </a:r>
          </a:p>
          <a:p/>
          <a:p>
            <a:r>
              <a:t>Step 2: 40% threshold와 비교합니다.</a:t>
            </a:r>
          </a:p>
          <a:p/>
          <a:p>
            <a:r>
              <a:t>C &lt; 40%: 초록색 화살표.</a:t>
            </a:r>
          </a:p>
          <a:p>
            <a:r>
              <a:t>"Deploy with CP" - Conformal Prediction과 함께 배포해도 됩니다.</a:t>
            </a:r>
          </a:p>
          <a:p/>
          <a:p>
            <a:r>
              <a:t>C &gt;= 40%: 빨간색 화살표.</a:t>
            </a:r>
          </a:p>
          <a:p>
            <a:r>
              <a:t>"Mitigate first" - 배포 전에 조치가 필요합니다.</a:t>
            </a:r>
          </a:p>
          <a:p/>
          <a:p>
            <a:r>
              <a:t>Step 3: 조치 후 재평가하거나, 다른 방법을 고려합니다.</a:t>
            </a:r>
          </a:p>
          <a:p/>
          <a:p>
            <a:r>
              <a:t>40% threshold는 경험적으로 도출되었습니다.</a:t>
            </a:r>
          </a:p>
          <a:p>
            <a:r>
              <a:t>SALT dataset에서 자연스러운 gap이 관찰되었습니다.</a:t>
            </a:r>
          </a:p>
          <a:p/>
          <a:p>
            <a:r>
              <a:t>물론 domain에 따라 조정이 필요할 수 있습니다.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[MITIGATION STRATEGIES - 45초]</a:t>
            </a:r>
          </a:p>
          <a:p/>
          <a:p>
            <a:r>
              <a:t>Concentration이 threshold를 초과하면 어떻게 할까요?</a:t>
            </a:r>
          </a:p>
          <a:p/>
          <a:p>
            <a:r>
              <a:t>네 가지 전략을 제안합니다.</a:t>
            </a:r>
          </a:p>
          <a:p/>
          <a:p>
            <a:r>
              <a:t>1. Feature Engineering</a:t>
            </a:r>
          </a:p>
          <a:p>
            <a:r>
              <a:t>신호 소스를 다양화합니다.</a:t>
            </a:r>
          </a:p>
          <a:p>
            <a:r>
              <a:t>Dominant feature에 대한 의존도를 줄입니다.</a:t>
            </a:r>
          </a:p>
          <a:p/>
          <a:p>
            <a:r>
              <a:t>2. Model Regularization</a:t>
            </a:r>
          </a:p>
          <a:p>
            <a:r>
              <a:t>Feature dropout을 적용합니다.</a:t>
            </a:r>
          </a:p>
          <a:p>
            <a:r>
              <a:t>다양한 feature subset으로 ensemble합니다.</a:t>
            </a:r>
          </a:p>
          <a:p/>
          <a:p>
            <a:r>
              <a:t>3. Monitoring</a:t>
            </a:r>
          </a:p>
          <a:p>
            <a:r>
              <a:t>시간에 따른 concentration 변화를 추적합니다.</a:t>
            </a:r>
          </a:p>
          <a:p>
            <a:r>
              <a:t>Threshold 위반 시 alert을 발생시킵니다.</a:t>
            </a:r>
          </a:p>
          <a:p/>
          <a:p>
            <a:r>
              <a:t>오른쪽 그림이 monitoring framework을 보여줍니다.</a:t>
            </a:r>
          </a:p>
          <a:p>
            <a:r>
              <a:t>Production pipeline과 병렬로 coverage tracker가 동작합니다.</a:t>
            </a:r>
          </a:p>
          <a:p>
            <a:r>
              <a:t>Alert system이 traffic light처럼 상태를 표시합니다.</a:t>
            </a:r>
          </a:p>
          <a:p/>
          <a:p>
            <a:r>
              <a:t>핵심 메시지:</a:t>
            </a:r>
          </a:p>
          <a:p>
            <a:r>
              <a:t>실패가 발생한 후가 아니라, 배포 전에 concentration을 address하세요.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[LIMITATIONS - 1분]</a:t>
            </a:r>
          </a:p>
          <a:p/>
          <a:p>
            <a:r>
              <a:t>정직하게 한계점을 말씀드리겠습니다.</a:t>
            </a:r>
          </a:p>
          <a:p/>
          <a:p>
            <a:r>
              <a:t>첫째, Tabular data 중심입니다.</a:t>
            </a:r>
          </a:p>
          <a:p>
            <a:r>
              <a:t>주로 tabular 데이터에서 테스트했습니다.</a:t>
            </a:r>
          </a:p>
          <a:p>
            <a:r>
              <a:t>Image나 text로의 확장은 추가 연구가 필요합니다.</a:t>
            </a:r>
          </a:p>
          <a:p/>
          <a:p>
            <a:r>
              <a:t>둘째, SHAP 계산 비용입니다.</a:t>
            </a:r>
          </a:p>
          <a:p>
            <a:r>
              <a:t>TreeSHAP은 gradient boosting에서 효율적입니다.</a:t>
            </a:r>
          </a:p>
          <a:p>
            <a:r>
              <a:t>하지만 deep learning에서 KernelSHAP은 느립니다.</a:t>
            </a:r>
          </a:p>
          <a:p/>
          <a:p>
            <a:r>
              <a:t>셋째, Threshold calibration입니다.</a:t>
            </a:r>
          </a:p>
          <a:p>
            <a:r>
              <a:t>40%는 경험적 값입니다.</a:t>
            </a:r>
          </a:p>
          <a:p>
            <a:r>
              <a:t>n=8 SALT task에서 도출했습니다.</a:t>
            </a:r>
          </a:p>
          <a:p>
            <a:r>
              <a:t>Domain에 따라 달라질 수 있습니다.</a:t>
            </a:r>
          </a:p>
          <a:p/>
          <a:p>
            <a:r>
              <a:t>넷째, Model-specific입니다.</a:t>
            </a:r>
          </a:p>
          <a:p>
            <a:r>
              <a:t>Tree ensemble에서 가장 잘 작동합니다.</a:t>
            </a:r>
          </a:p>
          <a:p>
            <a:r>
              <a:t>Random Forest나 Neural Net에서는 약합니다.</a:t>
            </a:r>
          </a:p>
          <a:p/>
          <a:p>
            <a:r>
              <a:t>마지막으로, 이것은 diagnostic tool이지 fix가 아닙니다.</a:t>
            </a:r>
          </a:p>
          <a:p>
            <a:r>
              <a:t>Correlation이 causation을 의미하지는 않습니다.</a:t>
            </a:r>
          </a:p>
          <a:p>
            <a:r>
              <a:t>하지만 이론이 mechanism을 지지합니다.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[FUTURE DIRECTIONS - 45초]</a:t>
            </a:r>
          </a:p>
          <a:p/>
          <a:p>
            <a:r>
              <a:t>향후 연구 방향입니다.</a:t>
            </a:r>
          </a:p>
          <a:p/>
          <a:p>
            <a:r>
              <a:t>세 가지 원으로 표시했습니다.</a:t>
            </a:r>
          </a:p>
          <a:p/>
          <a:p>
            <a:r>
              <a:t>첫째, Extensions.</a:t>
            </a:r>
          </a:p>
          <a:p>
            <a:r>
              <a:t>Deep learning으로 확장합니다.</a:t>
            </a:r>
          </a:p>
          <a:p>
            <a:r>
              <a:t>Gradient-based explanation을 활용할 수 있습니다.</a:t>
            </a:r>
          </a:p>
          <a:p/>
          <a:p>
            <a:r>
              <a:t>둘째, Automation.</a:t>
            </a:r>
          </a:p>
          <a:p>
            <a:r>
              <a:t>자동 완화 기법을 개발합니다.</a:t>
            </a:r>
          </a:p>
          <a:p>
            <a:r>
              <a:t>Concentration을 줄이는 feature engineering을 자동화합니다.</a:t>
            </a:r>
          </a:p>
          <a:p/>
          <a:p>
            <a:r>
              <a:t>셋째, Theory.</a:t>
            </a:r>
          </a:p>
          <a:p>
            <a:r>
              <a:t>더 tight한 bound를 도출합니다.</a:t>
            </a:r>
          </a:p>
          <a:p>
            <a:r>
              <a:t>Distribution-specific 가정 하에서 더 정확한 예측이 가능할 것입니다.</a:t>
            </a:r>
          </a:p>
          <a:p/>
          <a:p>
            <a:r>
              <a:t>열린 질문이 있습니다:</a:t>
            </a:r>
          </a:p>
          <a:p>
            <a:r>
              <a:t>"본질적으로 low-concentration인 모델을 설계할 수 있을까요?"</a:t>
            </a:r>
          </a:p>
          <a:p>
            <a:r>
              <a:t>"Adversarial robustness와의 관계는 무엇일까요?"</a:t>
            </a:r>
          </a:p>
          <a:p/>
          <a:p>
            <a:r>
              <a:t>---</a:t>
            </a:r>
          </a:p>
          <a:p>
            <a:r>
              <a:t>[다음 슬라이드로]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[CONCLUSION - 1분]</a:t>
            </a:r>
          </a:p>
          <a:p/>
          <a:p>
            <a:r>
              <a:t>결론입니다.</a:t>
            </a:r>
          </a:p>
          <a:p/>
          <a:p>
            <a:r>
              <a:t>SHAP Concentration은 Conformal Prediction 취약성을 위한</a:t>
            </a:r>
          </a:p>
          <a:p>
            <a:r>
              <a:t>Pre-deployment diagnostic입니다.</a:t>
            </a:r>
          </a:p>
          <a:p/>
          <a:p>
            <a:r>
              <a:t>Key contributions 세 가지:</a:t>
            </a:r>
          </a:p>
          <a:p/>
          <a:p>
            <a:r>
              <a:t>첫째, Predictive metric.</a:t>
            </a:r>
          </a:p>
          <a:p>
            <a:r>
              <a:t>SHAP concentration과 coverage failure의 상관관계: rho = 0.853.</a:t>
            </a:r>
          </a:p>
          <a:p>
            <a:r>
              <a:t>16 tasks, 9 domains에서 검증되었습니다.</a:t>
            </a:r>
          </a:p>
          <a:p/>
          <a:p>
            <a:r>
              <a:t>둘째, Theoretical grounding.</a:t>
            </a:r>
          </a:p>
          <a:p>
            <a:r>
              <a:t>Score perturbation에 대한 monotonic bound를 증명했습니다.</a:t>
            </a:r>
          </a:p>
          <a:p>
            <a:r>
              <a:t>Concentration이 fragility amplifier임을 보였습니다.</a:t>
            </a:r>
          </a:p>
          <a:p/>
          <a:p>
            <a:r>
              <a:t>셋째, Practical protocol.</a:t>
            </a:r>
          </a:p>
          <a:p>
            <a:r>
              <a:t>40% threshold를 기준으로 한 3단계 framework을 제안했습니다.</a:t>
            </a:r>
          </a:p>
          <a:p/>
          <a:p>
            <a:r>
              <a:t>Impact:</a:t>
            </a:r>
          </a:p>
          <a:p>
            <a:r>
              <a:t>취약한 배포를 실패가 발생하기 전에 사전 식별할 수 있습니다.</a:t>
            </a:r>
          </a:p>
          <a:p>
            <a:r>
              <a:t>Proactive하게 대응할 수 있습니다.</a:t>
            </a:r>
          </a:p>
          <a:p/>
          <a:p>
            <a:r>
              <a:t>코드와 데이터는 GitHub에 공개되어 있습니다.</a:t>
            </a:r>
          </a:p>
          <a:p/>
          <a:p>
            <a:r>
              <a:t>감사합니다. 질문 받겠습니다.</a:t>
            </a:r>
          </a:p>
          <a:p/>
          <a:p>
            <a:r>
              <a:t>---</a:t>
            </a:r>
          </a:p>
          <a:p>
            <a:r>
              <a:t>[Q&amp;A]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[BACKUP: QUESTIONS SLIDE]</a:t>
            </a:r>
          </a:p>
          <a:p/>
          <a:p>
            <a:r>
              <a:t>예상되는 질문들:</a:t>
            </a:r>
          </a:p>
          <a:p/>
          <a:p>
            <a:r>
              <a:t>Q: 왜 top-1 concentration을 사용하나요? Top-2나 entropy는?</a:t>
            </a:r>
          </a:p>
          <a:p>
            <a:r>
              <a:t>A: sales-office task는 top-2/3 concentration이 높지만 coverage drop이 거의 없습니다.</a:t>
            </a:r>
          </a:p>
          <a:p>
            <a:r>
              <a:t>   Top-1만이 유의미한 상관관계를 보여줍니다.</a:t>
            </a:r>
          </a:p>
          <a:p/>
          <a:p>
            <a:r>
              <a:t>Q: 40% threshold는 어떻게 정했나요?</a:t>
            </a:r>
          </a:p>
          <a:p>
            <a:r>
              <a:t>A: SALT dataset의 concentration 분포에서 자연스러운 gap이 관찰되었습니다.</a:t>
            </a:r>
          </a:p>
          <a:p>
            <a:r>
              <a:t>   Low-concentration (24-29%)와 high-concentration (43-54%) 사이의 gap입니다.</a:t>
            </a:r>
          </a:p>
          <a:p/>
          <a:p>
            <a:r>
              <a:t>Q: Neural network에서도 작동하나요?</a:t>
            </a:r>
          </a:p>
          <a:p>
            <a:r>
              <a:t>A: MLP에서 rho = 0.43으로 약합니다.</a:t>
            </a:r>
          </a:p>
          <a:p>
            <a:r>
              <a:t>   SHAP approximation 노이즈 때문입니다.</a:t>
            </a:r>
          </a:p>
          <a:p>
            <a:r>
              <a:t>   Gradient boosting에서 가장 효과적입니다.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[BACKUP: FULL RESULTS TABLE]</a:t>
            </a:r>
          </a:p>
          <a:p/>
          <a:p>
            <a:r>
              <a:t>전체 결과 테이블입니다.</a:t>
            </a:r>
          </a:p>
          <a:p/>
          <a:p>
            <a:r>
              <a:t>SALT 8개 task:</a:t>
            </a:r>
          </a:p>
          <a:p>
            <a:r>
              <a:t>- s-payterms: C=54.2%, Drop=77.1pp (Catastrophic)</a:t>
            </a:r>
          </a:p>
          <a:p>
            <a:r>
              <a:t>- s-shipcond: C=50.7%, Drop=71.6pp (Catastrophic)</a:t>
            </a:r>
          </a:p>
          <a:p>
            <a:r>
              <a:t>- i-shippoint: C=48.8%, Drop=18.5pp (High variance)</a:t>
            </a:r>
          </a:p>
          <a:p>
            <a:r>
              <a:t>- s-group: C=47.3%, Drop=71.2pp (Catastrophic)</a:t>
            </a:r>
          </a:p>
          <a:p>
            <a:r>
              <a:t>- s-office: C=42.6%, Drop=0.1pp (Robust - protective factor)</a:t>
            </a:r>
          </a:p>
          <a:p>
            <a:r>
              <a:t>- i-incoterms: C=28.9%, Drop=11.3pp (Robust)</a:t>
            </a:r>
          </a:p>
          <a:p>
            <a:r>
              <a:t>- i-plant: C=23.9%, Drop=10.6pp (Robust)</a:t>
            </a:r>
          </a:p>
          <a:p>
            <a:r>
              <a:t>- s-incoterms: C=23.7%, Drop=8.5pp (Robust)</a:t>
            </a:r>
          </a:p>
          <a:p/>
          <a:p>
            <a:r>
              <a:t>External validation 주요 케이스:</a:t>
            </a:r>
          </a:p>
          <a:p>
            <a:r>
              <a:t>- Covertype: C=49.8%, Drop=81.8pp (Catastrophic)</a:t>
            </a:r>
          </a:p>
          <a:p>
            <a:r>
              <a:t>- KDDCup99: C=21.1%, Drop=15.9pp (Intermediate, high variance)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[BACKUP: SHAP COMPUTATION DETAILS]</a:t>
            </a:r>
          </a:p>
          <a:p/>
          <a:p>
            <a:r>
              <a:t>SHAP 계산 세부사항:</a:t>
            </a:r>
          </a:p>
          <a:p/>
          <a:p>
            <a:r>
              <a:t>구현:</a:t>
            </a:r>
          </a:p>
          <a:p>
            <a:r>
              <a:t>- SHAP library v0.42.1</a:t>
            </a:r>
          </a:p>
          <a:p>
            <a:r>
              <a:t>- TreeExplainer for gradient boosting</a:t>
            </a:r>
          </a:p>
          <a:p>
            <a:r>
              <a:t>- Exact SHAP values (not approximation)</a:t>
            </a:r>
          </a:p>
          <a:p/>
          <a:p>
            <a:r>
              <a:t>계산 시간:</a:t>
            </a:r>
          </a:p>
          <a:p>
            <a:r>
              <a:t>- 약 1초 per 1,000 samples</a:t>
            </a:r>
          </a:p>
          <a:p>
            <a:r>
              <a:t>- 실용적으로 사용 가능한 수준</a:t>
            </a:r>
          </a:p>
          <a:p/>
          <a:p>
            <a:r>
              <a:t>Aggregation:</a:t>
            </a:r>
          </a:p>
          <a:p>
            <a:r>
              <a:t>- Class별, sample별 absolute SHAP의 평균</a:t>
            </a:r>
          </a:p>
          <a:p>
            <a:r>
              <a:t>- Normalization하여 sum = 1</a:t>
            </a:r>
          </a:p>
          <a:p/>
          <a:p>
            <a:r>
              <a:t>Robustness:</a:t>
            </a:r>
          </a:p>
          <a:p>
            <a:r>
              <a:t>- Calibration set 크기 1K-10K에서 안정적</a:t>
            </a:r>
          </a:p>
          <a:p>
            <a:r>
              <a:t>- Bootstrap CI 제공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[BACKUP: STATISTICAL ANALYSIS]</a:t>
            </a:r>
          </a:p>
          <a:p/>
          <a:p>
            <a:r>
              <a:t>통계 분석 세부사항:</a:t>
            </a:r>
          </a:p>
          <a:p/>
          <a:p>
            <a:r>
              <a:t>Spearman Correlation 선택 이유:</a:t>
            </a:r>
          </a:p>
          <a:p>
            <a:r>
              <a:t>- Outlier에 robust</a:t>
            </a:r>
          </a:p>
          <a:p>
            <a:r>
              <a:t>- Monotonic relationship 포착</a:t>
            </a:r>
          </a:p>
          <a:p>
            <a:r>
              <a:t>- Ordinal pattern에 적합</a:t>
            </a:r>
          </a:p>
          <a:p/>
          <a:p>
            <a:r>
              <a:t>결과:</a:t>
            </a:r>
          </a:p>
          <a:p>
            <a:r>
              <a:t>- Overall: rho = 0.853, p &lt; 0.001</a:t>
            </a:r>
          </a:p>
          <a:p>
            <a:r>
              <a:t>- SALT only: rho = 0.833, p = 0.010</a:t>
            </a:r>
          </a:p>
          <a:p>
            <a:r>
              <a:t>- 95% CI: [0.50, 0.96]</a:t>
            </a:r>
          </a:p>
          <a:p/>
          <a:p>
            <a:r>
              <a:t>Multiple comparison correction:</a:t>
            </a:r>
          </a:p>
          <a:p>
            <a:r>
              <a:t>- 5개 concentration variant 테스트</a:t>
            </a:r>
          </a:p>
          <a:p>
            <a:r>
              <a:t>- Holm-Bonferroni correction 적용</a:t>
            </a:r>
          </a:p>
          <a:p>
            <a:r>
              <a:t>- Top-1이 유일하게 유의미</a:t>
            </a:r>
          </a:p>
          <a:p/>
          <a:p>
            <a:r>
              <a:t>ICC 분석:</a:t>
            </a:r>
          </a:p>
          <a:p>
            <a:r>
              <a:t>- Task identity가 variance의 67.5% 설명</a:t>
            </a:r>
          </a:p>
          <a:p>
            <a:r>
              <a:t>- Effective n = 11.7 &gt; 8 tasks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