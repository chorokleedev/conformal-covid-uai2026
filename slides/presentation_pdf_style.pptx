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[TITLE - 30초]</a:t>
            </a:r>
          </a:p>
          <a:p>
            <a:r>
              <a:t>안녕하세요. KAIST의 이초록입니다.</a:t>
            </a:r>
          </a:p>
          <a:p>
            <a:r>
              <a:t>오늘은 COVID-19를 자연 실험으로 활용하여 Distribution Shift 하에서 Conformal Prediction 실패를 진단하는 연구를 발표하겠습니다.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[CP의 약속 - 1분]</a:t>
            </a:r>
          </a:p>
          <a:p>
            <a:r>
              <a:t>먼저 Conformal Prediction의 매력적인 점을 말씀드리겠습니다.</a:t>
            </a:r>
          </a:p>
          <a:p>
            <a:r>
              <a:t>Distribution-free 보장: 어떤 모델이든 90% coverage를 보장합니다.</a:t>
            </a:r>
          </a:p>
          <a:p>
            <a:r>
              <a:t>하지만 문제가 있습니다...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[숨겨진 가정 - 1분]</a:t>
            </a:r>
          </a:p>
          <a:p>
            <a:r>
              <a:t>문제는 Exchangeability 가정입니다.</a:t>
            </a:r>
          </a:p>
          <a:p>
            <a:r>
              <a:t>Calibration과 Test 데이터가 같은 분포에서 와야 합니다.</a:t>
            </a:r>
          </a:p>
          <a:p>
            <a:r>
              <a:t>현실에서는 Distribution Shift가 불가피합니다 - COVID-19, 지역 변화, 인구 변화 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[연구 Gap - 1분]</a:t>
            </a:r>
          </a:p>
          <a:p>
            <a:r>
              <a:t>기존 Shift 탐지기(MMD, C2ST, PSI)는 Shift '발생'을 탐지합니다.</a:t>
            </a:r>
          </a:p>
          <a:p>
            <a:r>
              <a:t>하지만 Coverage 실패와의 상관관계는 ρ≤0.19로 약합니다.</a:t>
            </a:r>
          </a:p>
          <a:p>
            <a:r>
              <a:t>Catastrophic 실패와 Robust 결과를 구분하지 못합니다.</a:t>
            </a:r>
          </a:p>
          <a:p>
            <a:r>
              <a:t>연구 질문: 테스트 데이터 없이 어떤 모델이 실패할지 예측할 수 있을까요?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[CP 입문 - 1.5분]</a:t>
            </a:r>
          </a:p>
          <a:p>
            <a:r>
              <a:t>Conformal Prediction 간단 설명.</a:t>
            </a:r>
          </a:p>
          <a:p>
            <a:r>
              <a:t>APS(Adaptive Prediction Sets)를 사용합니다.</a:t>
            </a:r>
          </a:p>
          <a:p>
            <a:r>
              <a:t>1단계: Nonconformity score 정의</a:t>
            </a:r>
          </a:p>
          <a:p>
            <a:r>
              <a:t>2단계: Calibration set에서 threshold 계산</a:t>
            </a:r>
          </a:p>
          <a:p>
            <a:r>
              <a:t>3단계: Prediction set 형성</a:t>
            </a:r>
          </a:p>
          <a:p>
            <a:r>
              <a:t>4단계: Coverage 보장</a:t>
            </a:r>
          </a:p>
          <a:p>
            <a:r>
              <a:t>α=0.1, 즉 90% 목표 coverage입니다.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[CP 파이프라인 - 30초]</a:t>
            </a:r>
          </a:p>
          <a:p>
            <a:r>
              <a:t>이 그림이 CP 파이프라인입니다.</a:t>
            </a:r>
          </a:p>
          <a:p>
            <a:r>
              <a:t>Training → Base Model → Calibration → Scores → Prediction Set</a:t>
            </a:r>
          </a:p>
          <a:p>
            <a:r>
              <a:t>핵심: Distribution Shift 시 calibrated threshold가 무효화됩니다.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[Shift 발생 시 - 1분]</a:t>
            </a:r>
          </a:p>
          <a:p>
            <a:r>
              <a:t>실제로 무슨 일이 일어나는가:</a:t>
            </a:r>
          </a:p>
          <a:p>
            <a:r>
              <a:t>Shift 없음: ~90% coverage 유지</a:t>
            </a:r>
          </a:p>
          <a:p>
            <a:r>
              <a:t>약한 Shift: 약간 undercoverage (85%)</a:t>
            </a:r>
          </a:p>
          <a:p>
            <a:r>
              <a:t>심한 Shift: CATASTROPHIC 실패 - 50% 이하로 추락</a:t>
            </a:r>
          </a:p>
          <a:p>
            <a:r>
              <a:t>핵심 관찰: Shift 심각도만으로는 Coverage 실패를 예측할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통찰 - 1분]</a:t>
            </a:r>
          </a:p>
          <a:p>
            <a:r>
              <a:t>우리의 핵심 통찰:</a:t>
            </a:r>
          </a:p>
          <a:p>
            <a:r>
              <a:t>CP 취약성은 모델이 shifting feature에 얼마나 '집중'되어 있는지에 달려 있습니다.</a:t>
            </a:r>
          </a:p>
          <a:p>
            <a:r>
              <a:t>Low concentration → Robust</a:t>
            </a:r>
          </a:p>
          <a:p>
            <a:r>
              <a:t>High concentration → Vulnerable</a:t>
            </a:r>
          </a:p>
          <a:p>
            <a:r>
              <a:t>SHAP Concentration으로 측정합니다.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[SHAP Concentration - 1분]</a:t>
            </a:r>
          </a:p>
          <a:p>
            <a:r>
              <a:t>SHAP Concentration 정의:</a:t>
            </a:r>
          </a:p>
          <a:p>
            <a:r>
              <a:t>C = φ₁ / Σφⱼ (top-1 / total)</a:t>
            </a:r>
          </a:p>
          <a:p>
            <a:r>
              <a:t>단순하고, 해석 가능하며, 배포 전에 계산됩니다.</a:t>
            </a:r>
          </a:p>
          <a:p>
            <a:r>
              <a:t>40% 미만: Robust</a:t>
            </a:r>
          </a:p>
          <a:p>
            <a:r>
              <a:t>40% 이상: Vulnerable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[실험 설정 - 1분]</a:t>
            </a:r>
          </a:p>
          <a:p>
            <a:r>
              <a:t>SALT 벤치마크 (Stanford) 사용.</a:t>
            </a:r>
          </a:p>
          <a:p>
            <a:r>
              <a:t>8개 e-commerce 분류 태스크.</a:t>
            </a:r>
          </a:p>
          <a:p>
            <a:r>
              <a:t>COVID-19 temporal split: Pre-COVID로 학습, COVID 중 테스트.</a:t>
            </a:r>
          </a:p>
          <a:p>
            <a:r>
              <a:t>동일한 외부 충격, 다른 concentration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[방법론 - 45초]</a:t>
            </a:r>
          </a:p>
          <a:p>
            <a:r>
              <a:t>LightGBM 주 사용 (CatBoost, XGBoost, RF도 테스트).</a:t>
            </a:r>
          </a:p>
          <a:p>
            <a:r>
              <a:t>APS with 90% target coverage.</a:t>
            </a:r>
          </a:p>
          <a:p>
            <a:r>
              <a:t>50 random seeds.</a:t>
            </a:r>
          </a:p>
          <a:p>
            <a:r>
              <a:t>8개 추가 데이터셋으로 외부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[메인 결과 - 1분]</a:t>
            </a:r>
          </a:p>
          <a:p>
            <a:r>
              <a:t>핵심 결과!</a:t>
            </a:r>
          </a:p>
          <a:p>
            <a:r>
              <a:t>X축: SHAP Concentration</a:t>
            </a:r>
          </a:p>
          <a:p>
            <a:r>
              <a:t>Y축: Coverage Deviation</a:t>
            </a:r>
          </a:p>
          <a:p>
            <a:r>
              <a:t>Spearman ρ = 0.853, p &lt; 0.001</a:t>
            </a:r>
          </a:p>
          <a:p>
            <a:r>
              <a:t>16 tasks across 9 domains.</a:t>
            </a:r>
          </a:p>
          <a:p>
            <a:r>
              <a:t>기존 탐지기는 ρ ≤ 0.19입니다.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[SALT 결과 - 45초]</a:t>
            </a:r>
          </a:p>
          <a:p>
            <a:r>
              <a:t>SALT COVID 태스크 내에서:</a:t>
            </a:r>
          </a:p>
          <a:p>
            <a:r>
              <a:t>ρ = 0.833, p = 0.010 (n=8)</a:t>
            </a:r>
          </a:p>
          <a:p>
            <a:r>
              <a:t>High concentration → Catastrophic failure</a:t>
            </a:r>
          </a:p>
          <a:p>
            <a:r>
              <a:t>Low concentration →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[비교 - 1분]</a:t>
            </a:r>
          </a:p>
          <a:p>
            <a:r>
              <a:t>기존 탐지기와 비교:</a:t>
            </a:r>
          </a:p>
          <a:p>
            <a:r>
              <a:t>SHAP Concentration: ρ = 0.853 (Strong)</a:t>
            </a:r>
          </a:p>
          <a:p>
            <a:r>
              <a:t>MMD: ρ = 0.19 (Weak)</a:t>
            </a:r>
          </a:p>
          <a:p>
            <a:r>
              <a:t>C2ST: ρ = 0.15 (Weak)</a:t>
            </a:r>
          </a:p>
          <a:p>
            <a:r>
              <a:t>PSI: ρ = 0.12 (Negligible)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[Covertype - 1분]</a:t>
            </a:r>
          </a:p>
          <a:p>
            <a:r>
              <a:t>외부 검증: Covertype (Geographic shift)</a:t>
            </a:r>
          </a:p>
          <a:p>
            <a:r>
              <a:t>SHAP Concentration: 49.8% (&gt;40% threshold)</a:t>
            </a:r>
          </a:p>
          <a:p>
            <a:r>
              <a:t>결과: CATASTROPHIC - Target 90%, Actual 8.2%</a:t>
            </a:r>
          </a:p>
          <a:p>
            <a:r>
              <a:t>81.8pp drop!</a:t>
            </a:r>
          </a:p>
          <a:p>
            <a:r>
              <a:t>10/10 seeds에서 동일하게 실패.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[모델 민감도 - 45초]</a:t>
            </a:r>
          </a:p>
          <a:p>
            <a:r>
              <a:t>모델별 차이:</a:t>
            </a:r>
          </a:p>
          <a:p>
            <a:r>
              <a:t>LightGBM: ρ = 0.833 (Best)</a:t>
            </a:r>
          </a:p>
          <a:p>
            <a:r>
              <a:t>CatBoost: ρ = 0.667</a:t>
            </a:r>
          </a:p>
          <a:p>
            <a:r>
              <a:t>XGBoost: ρ = 0.548</a:t>
            </a:r>
          </a:p>
          <a:p>
            <a:r>
              <a:t>Random Forest: ρ = 0.300 (Weak)</a:t>
            </a:r>
          </a:p>
          <a:p>
            <a:r>
              <a:t>Gradient Boosting에서 가장 효과적입니다.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[이론 - 1분]</a:t>
            </a:r>
          </a:p>
          <a:p>
            <a:r>
              <a:t>이론적 근거:</a:t>
            </a:r>
          </a:p>
          <a:p>
            <a:r>
              <a:t>Concentration 하에서 APS score bound가 단조 증가합니다.</a:t>
            </a:r>
          </a:p>
          <a:p>
            <a:r>
              <a:t>Higher concentration → Larger score perturbation</a:t>
            </a:r>
          </a:p>
          <a:p>
            <a:r>
              <a:t>Score perturbation → Coverage deviation</a:t>
            </a:r>
          </a:p>
          <a:p>
            <a:r>
              <a:t>Concentration = 'Fragility Amplifier'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[직관 - 1분]</a:t>
            </a:r>
          </a:p>
          <a:p>
            <a:r>
              <a:t>직관적 이해:</a:t>
            </a:r>
          </a:p>
          <a:p>
            <a:r>
              <a:t>Low concentration: SHAP weight가 균등 분포. Shift 영향이 평균화됨.</a:t>
            </a:r>
          </a:p>
          <a:p>
            <a:r>
              <a:t>High concentration: 하나의 feature가 지배. 그 feature에 shift 발생 시 큰 영향.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[프레임워크 - 1분]</a:t>
            </a:r>
          </a:p>
          <a:p>
            <a:r>
              <a:t>실용 프레임워크 3단계:</a:t>
            </a:r>
          </a:p>
          <a:p>
            <a:r>
              <a:t>1. Validation data에서 C 계산</a:t>
            </a:r>
          </a:p>
          <a:p>
            <a:r>
              <a:t>2. 40% threshold 체크</a:t>
            </a:r>
          </a:p>
          <a:p>
            <a:r>
              <a:t>3. 40% 이상: 배포 전 조치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[완화 전략 - 45초]</a:t>
            </a:r>
          </a:p>
          <a:p>
            <a:r>
              <a:t>Concentration 초과 시:</a:t>
            </a:r>
          </a:p>
          <a:p>
            <a:r>
              <a:t>Feature Engineering - 신호 다양화</a:t>
            </a:r>
          </a:p>
          <a:p>
            <a:r>
              <a:t>Model Regularization - Feature dropout</a:t>
            </a:r>
          </a:p>
          <a:p>
            <a:r>
              <a:t>Monitoring - C 추적, threshold 위반 알림</a:t>
            </a:r>
          </a:p>
          <a:p>
            <a:r>
              <a:t>핵심: 실패 후가 아닌 배포 전에 대응!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[한계 - 1분]</a:t>
            </a:r>
          </a:p>
          <a:p>
            <a:r>
              <a:t>정직한 한계점:</a:t>
            </a:r>
          </a:p>
          <a:p>
            <a:r>
              <a:t>Tabular data 중심</a:t>
            </a:r>
          </a:p>
          <a:p>
            <a:r>
              <a:t>SHAP 계산 비용 (TreeSHAP은 효율적, KernelSHAP은 느림)</a:t>
            </a:r>
          </a:p>
          <a:p>
            <a:r>
              <a:t>40% threshold는 경험적 (n=8)</a:t>
            </a:r>
          </a:p>
          <a:p>
            <a:r>
              <a:t>Tree ensemble에서 가장 효과적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[향후 연구 - 45초]</a:t>
            </a:r>
          </a:p>
          <a:p>
            <a:r>
              <a:t>향후 방향:</a:t>
            </a:r>
          </a:p>
          <a:p>
            <a:r>
              <a:t>Deep learning 확장</a:t>
            </a:r>
          </a:p>
          <a:p>
            <a:r>
              <a:t>자동 완화 기법</a:t>
            </a:r>
          </a:p>
          <a:p>
            <a:r>
              <a:t>더 tight한 이론적 bound</a:t>
            </a:r>
          </a:p>
          <a:p>
            <a:r>
              <a:t>질문: 본질적으로 low-concentration인 모델 설계 가능?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[결론 - 1분]</a:t>
            </a:r>
          </a:p>
          <a:p>
            <a:r>
              <a:t>결론:</a:t>
            </a:r>
          </a:p>
          <a:p>
            <a:r>
              <a:t>SHAP Concentration - 배포 전 진단 도구</a:t>
            </a:r>
          </a:p>
          <a:p>
            <a:r>
              <a:t>Strong correlation: ρ = 0.853</a:t>
            </a:r>
          </a:p>
          <a:p>
            <a:r>
              <a:t>이론적 근거: Monotonic score bound</a:t>
            </a:r>
          </a:p>
          <a:p>
            <a:r>
              <a:t>실용 프레임워크: 40% threshold</a:t>
            </a:r>
          </a:p>
          <a:p>
            <a:r>
              <a:t>취약한 배포를 실패 전에 사전 식별!</a:t>
            </a:r>
          </a:p>
          <a:p>
            <a:r>
              <a:t>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- Q&amp;A]</a:t>
            </a:r>
          </a:p>
          <a:p>
            <a:r>
              <a:t>예상 질문:</a:t>
            </a:r>
          </a:p>
          <a:p>
            <a:r>
              <a:t>- 왜 top-1? sales-office는 top-2/3이 높지만 drop 거의 없음</a:t>
            </a:r>
          </a:p>
          <a:p>
            <a:r>
              <a:t>- 왜 40%? Concentration 분포의 자연스러운 gap</a:t>
            </a:r>
          </a:p>
          <a:p>
            <a:r>
              <a:t>- Neural net? MLP ρ=0.43로 약함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